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4" r:id="rId10"/>
    <p:sldId id="265" r:id="rId11"/>
    <p:sldId id="267" r:id="rId12"/>
    <p:sldId id="268" r:id="rId13"/>
  </p:sldIdLst>
  <p:sldSz cx="9144000" cy="5143500" type="screen16x9"/>
  <p:notesSz cx="5143500" cy="9144000"/>
  <p:embeddedFontLst>
    <p:embeddedFont>
      <p:font typeface="Arial Black" panose="020B0A04020102020204" pitchFamily="34" charset="0"/>
      <p:bold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Montserrat ExtraBold" pitchFamily="2" charset="0"/>
      <p:bold r:id="rId18"/>
    </p:embeddedFont>
    <p:embeddedFont>
      <p:font typeface="Petrona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02A7"/>
    <a:srgbClr val="FFF8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DAD45-4C87-45F5-9BDC-6D4AAB3298B0}" v="5" dt="2026-07-10T13:24:37.4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an Gounder" userId="de4f6222d61d7991" providerId="LiveId" clId="{8676F5DB-F6D4-4110-BCAB-403772168387}"/>
    <pc:docChg chg="undo custSel addSld delSld modSld">
      <pc:chgData name="Venkateshan Gounder" userId="de4f6222d61d7991" providerId="LiveId" clId="{8676F5DB-F6D4-4110-BCAB-403772168387}" dt="2026-07-10T13:25:17.178" v="196" actId="1076"/>
      <pc:docMkLst>
        <pc:docMk/>
      </pc:docMkLst>
      <pc:sldChg chg="modSp mod">
        <pc:chgData name="Venkateshan Gounder" userId="de4f6222d61d7991" providerId="LiveId" clId="{8676F5DB-F6D4-4110-BCAB-403772168387}" dt="2026-07-10T12:57:53.383" v="77" actId="1076"/>
        <pc:sldMkLst>
          <pc:docMk/>
          <pc:sldMk cId="0" sldId="256"/>
        </pc:sldMkLst>
        <pc:spChg chg="mod">
          <ac:chgData name="Venkateshan Gounder" userId="de4f6222d61d7991" providerId="LiveId" clId="{8676F5DB-F6D4-4110-BCAB-403772168387}" dt="2026-07-10T12:57:40.414" v="74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2:57:53.383" v="77" actId="1076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Venkateshan Gounder" userId="de4f6222d61d7991" providerId="LiveId" clId="{8676F5DB-F6D4-4110-BCAB-403772168387}" dt="2026-07-10T12:58:07.776" v="78" actId="1076"/>
        <pc:sldMkLst>
          <pc:docMk/>
          <pc:sldMk cId="0" sldId="257"/>
        </pc:sldMkLst>
        <pc:spChg chg="mod">
          <ac:chgData name="Venkateshan Gounder" userId="de4f6222d61d7991" providerId="LiveId" clId="{8676F5DB-F6D4-4110-BCAB-403772168387}" dt="2026-07-10T12:58:07.776" v="78" actId="1076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Venkateshan Gounder" userId="de4f6222d61d7991" providerId="LiveId" clId="{8676F5DB-F6D4-4110-BCAB-403772168387}" dt="2026-07-10T13:17:30.890" v="106" actId="1076"/>
        <pc:sldMkLst>
          <pc:docMk/>
          <pc:sldMk cId="0" sldId="258"/>
        </pc:sldMkLst>
        <pc:spChg chg="mod">
          <ac:chgData name="Venkateshan Gounder" userId="de4f6222d61d7991" providerId="LiveId" clId="{8676F5DB-F6D4-4110-BCAB-403772168387}" dt="2026-07-10T13:17:30.890" v="106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18.561" v="9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07.752" v="9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31.448" v="96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36.697" v="97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28.088" v="95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24.962" v="94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16:52.178" v="100" actId="1076"/>
          <ac:spMkLst>
            <pc:docMk/>
            <pc:sldMk cId="0" sldId="258"/>
            <ac:spMk id="12" creationId="{00000000-0000-0000-0000-000000000000}"/>
          </ac:spMkLst>
        </pc:spChg>
        <pc:picChg chg="mod">
          <ac:chgData name="Venkateshan Gounder" userId="de4f6222d61d7991" providerId="LiveId" clId="{8676F5DB-F6D4-4110-BCAB-403772168387}" dt="2026-07-10T13:16:01.135" v="89" actId="1076"/>
          <ac:picMkLst>
            <pc:docMk/>
            <pc:sldMk cId="0" sldId="258"/>
            <ac:picMk id="5" creationId="{00000000-0000-0000-0000-000000000000}"/>
          </ac:picMkLst>
        </pc:picChg>
      </pc:sldChg>
      <pc:sldChg chg="addSp delSp modSp mod">
        <pc:chgData name="Venkateshan Gounder" userId="de4f6222d61d7991" providerId="LiveId" clId="{8676F5DB-F6D4-4110-BCAB-403772168387}" dt="2026-07-10T13:21:59.570" v="137" actId="14100"/>
        <pc:sldMkLst>
          <pc:docMk/>
          <pc:sldMk cId="0" sldId="261"/>
        </pc:sldMkLst>
        <pc:spChg chg="mod">
          <ac:chgData name="Venkateshan Gounder" userId="de4f6222d61d7991" providerId="LiveId" clId="{8676F5DB-F6D4-4110-BCAB-403772168387}" dt="2026-07-10T13:21:59.570" v="137" actId="14100"/>
          <ac:spMkLst>
            <pc:docMk/>
            <pc:sldMk cId="0" sldId="261"/>
            <ac:spMk id="4" creationId="{00000000-0000-0000-0000-000000000000}"/>
          </ac:spMkLst>
        </pc:spChg>
        <pc:spChg chg="add del mod">
          <ac:chgData name="Venkateshan Gounder" userId="de4f6222d61d7991" providerId="LiveId" clId="{8676F5DB-F6D4-4110-BCAB-403772168387}" dt="2026-07-10T13:21:31.493" v="126" actId="478"/>
          <ac:spMkLst>
            <pc:docMk/>
            <pc:sldMk cId="0" sldId="261"/>
            <ac:spMk id="5" creationId="{00000000-0000-0000-0000-000000000000}"/>
          </ac:spMkLst>
        </pc:spChg>
        <pc:spChg chg="del">
          <ac:chgData name="Venkateshan Gounder" userId="de4f6222d61d7991" providerId="LiveId" clId="{8676F5DB-F6D4-4110-BCAB-403772168387}" dt="2026-07-10T13:20:57.252" v="109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Venkateshan Gounder" userId="de4f6222d61d7991" providerId="LiveId" clId="{8676F5DB-F6D4-4110-BCAB-403772168387}" dt="2026-07-10T13:20:55.855" v="108" actId="20577"/>
          <ac:spMkLst>
            <pc:docMk/>
            <pc:sldMk cId="0" sldId="261"/>
            <ac:spMk id="8" creationId="{00000000-0000-0000-0000-000000000000}"/>
          </ac:spMkLst>
        </pc:spChg>
        <pc:picChg chg="del">
          <ac:chgData name="Venkateshan Gounder" userId="de4f6222d61d7991" providerId="LiveId" clId="{8676F5DB-F6D4-4110-BCAB-403772168387}" dt="2026-07-10T13:20:58.705" v="110" actId="478"/>
          <ac:picMkLst>
            <pc:docMk/>
            <pc:sldMk cId="0" sldId="261"/>
            <ac:picMk id="7" creationId="{00000000-0000-0000-0000-000000000000}"/>
          </ac:picMkLst>
        </pc:picChg>
      </pc:sldChg>
      <pc:sldChg chg="del">
        <pc:chgData name="Venkateshan Gounder" userId="de4f6222d61d7991" providerId="LiveId" clId="{8676F5DB-F6D4-4110-BCAB-403772168387}" dt="2026-07-10T13:22:34.539" v="138" actId="47"/>
        <pc:sldMkLst>
          <pc:docMk/>
          <pc:sldMk cId="0" sldId="263"/>
        </pc:sldMkLst>
      </pc:sldChg>
      <pc:sldChg chg="modSp mod">
        <pc:chgData name="Venkateshan Gounder" userId="de4f6222d61d7991" providerId="LiveId" clId="{8676F5DB-F6D4-4110-BCAB-403772168387}" dt="2026-07-10T13:25:17.178" v="196" actId="1076"/>
        <pc:sldMkLst>
          <pc:docMk/>
          <pc:sldMk cId="884731752" sldId="264"/>
        </pc:sldMkLst>
        <pc:spChg chg="mod">
          <ac:chgData name="Venkateshan Gounder" userId="de4f6222d61d7991" providerId="LiveId" clId="{8676F5DB-F6D4-4110-BCAB-403772168387}" dt="2026-07-10T13:25:17.178" v="196" actId="1076"/>
          <ac:spMkLst>
            <pc:docMk/>
            <pc:sldMk cId="884731752" sldId="264"/>
            <ac:spMk id="6" creationId="{76C395B5-E299-E7CC-AAEF-D8E4687B6705}"/>
          </ac:spMkLst>
        </pc:spChg>
        <pc:picChg chg="mod">
          <ac:chgData name="Venkateshan Gounder" userId="de4f6222d61d7991" providerId="LiveId" clId="{8676F5DB-F6D4-4110-BCAB-403772168387}" dt="2026-07-10T13:25:10.785" v="195" actId="14100"/>
          <ac:picMkLst>
            <pc:docMk/>
            <pc:sldMk cId="884731752" sldId="264"/>
            <ac:picMk id="5" creationId="{C1B75C3F-B76D-6F3E-BD54-EED8FA438CC8}"/>
          </ac:picMkLst>
        </pc:picChg>
      </pc:sldChg>
      <pc:sldChg chg="addSp modSp new mod">
        <pc:chgData name="Venkateshan Gounder" userId="de4f6222d61d7991" providerId="LiveId" clId="{8676F5DB-F6D4-4110-BCAB-403772168387}" dt="2026-07-10T13:24:53.522" v="192" actId="313"/>
        <pc:sldMkLst>
          <pc:docMk/>
          <pc:sldMk cId="307984724" sldId="269"/>
        </pc:sldMkLst>
        <pc:spChg chg="add mod">
          <ac:chgData name="Venkateshan Gounder" userId="de4f6222d61d7991" providerId="LiveId" clId="{8676F5DB-F6D4-4110-BCAB-403772168387}" dt="2026-07-10T13:24:12.175" v="170" actId="1076"/>
          <ac:spMkLst>
            <pc:docMk/>
            <pc:sldMk cId="307984724" sldId="269"/>
            <ac:spMk id="5" creationId="{1070028C-8AF7-6B69-8E99-9B960F5F1BFA}"/>
          </ac:spMkLst>
        </pc:spChg>
        <pc:spChg chg="add mod">
          <ac:chgData name="Venkateshan Gounder" userId="de4f6222d61d7991" providerId="LiveId" clId="{8676F5DB-F6D4-4110-BCAB-403772168387}" dt="2026-07-10T13:24:53.522" v="192" actId="313"/>
          <ac:spMkLst>
            <pc:docMk/>
            <pc:sldMk cId="307984724" sldId="269"/>
            <ac:spMk id="6" creationId="{E1167E8A-D67F-71B3-2F71-618556D14C39}"/>
          </ac:spMkLst>
        </pc:spChg>
        <pc:picChg chg="add mod">
          <ac:chgData name="Venkateshan Gounder" userId="de4f6222d61d7991" providerId="LiveId" clId="{8676F5DB-F6D4-4110-BCAB-403772168387}" dt="2026-07-10T13:22:55.500" v="141" actId="1076"/>
          <ac:picMkLst>
            <pc:docMk/>
            <pc:sldMk cId="307984724" sldId="269"/>
            <ac:picMk id="3" creationId="{37496C8D-3F8F-D688-124B-84915DC8978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951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524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46138" y="1145823"/>
            <a:ext cx="5629432" cy="1409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00" b="1" dirty="0">
                <a:solidFill>
                  <a:srgbClr val="CE02A7"/>
                </a:solidFill>
                <a:latin typeface="Montserrat ExtraBold" pitchFamily="2" charset="0"/>
                <a:ea typeface="Petrona Bold" pitchFamily="34" charset="-122"/>
                <a:cs typeface="Petrona Bold" pitchFamily="34" charset="-120"/>
              </a:rPr>
              <a:t>Hospital Management System </a:t>
            </a:r>
            <a:endParaRPr lang="en-US" sz="4400" dirty="0">
              <a:solidFill>
                <a:srgbClr val="CE02A7"/>
              </a:solidFill>
              <a:latin typeface="Montserrat ExtraBold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88452" y="2411711"/>
            <a:ext cx="5244528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 unified digital platform that streamlines clinical workflows, secures patient data, and improves operational and financial performance across the hospital.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DBDFAD-9538-B045-E90B-80468883E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838" y="4605498"/>
            <a:ext cx="3134162" cy="4858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3C0607-1C99-D55C-C787-C2E7E827571E}"/>
              </a:ext>
            </a:extLst>
          </p:cNvPr>
          <p:cNvSpPr txBox="1"/>
          <p:nvPr/>
        </p:nvSpPr>
        <p:spPr>
          <a:xfrm>
            <a:off x="6134246" y="4309905"/>
            <a:ext cx="28853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rgbClr val="FFFF00"/>
                </a:solidFill>
              </a:rPr>
              <a:t>Mr Venkateshan A  MCA.,</a:t>
            </a:r>
          </a:p>
          <a:p>
            <a:pPr algn="ctr"/>
            <a:r>
              <a:rPr lang="en-IN" dirty="0">
                <a:solidFill>
                  <a:srgbClr val="FFFF00"/>
                </a:solidFill>
              </a:rPr>
              <a:t>Data Analytics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4267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Crisis of Paper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7253"/>
            <a:ext cx="552450" cy="341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25748" y="1717253"/>
            <a:ext cx="117537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Inefficiency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225748" y="2034853"/>
            <a:ext cx="11753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storage and retrieval slow care delivery and create backlog across departments.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17253"/>
            <a:ext cx="552450" cy="341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07928" y="1717253"/>
            <a:ext cx="117544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Error Rates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307928" y="2267396"/>
            <a:ext cx="11754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Illegible handwriting and misplaced documents lead to medication and documentation errors.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17253"/>
            <a:ext cx="552450" cy="341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90183" y="1717253"/>
            <a:ext cx="117544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Siloed Departments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390183" y="2267396"/>
            <a:ext cx="117544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real-time communication between pharmacy, lab, and wards obstructs coordinated care.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17253"/>
            <a:ext cx="552450" cy="341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72437" y="1717253"/>
            <a:ext cx="117544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Bottlenecks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472437" y="2267396"/>
            <a:ext cx="117544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Extended wait times and slow billing cycles reduce throughput and patient satisfaction.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95023CB-A1C9-F6C2-9FB9-AA446C39F8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9838" y="4657657"/>
            <a:ext cx="313416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10989"/>
            <a:ext cx="4722763" cy="709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Core Objective: Centralized Intelligence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82997" y="2490578"/>
            <a:ext cx="5261003" cy="232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Unified Digital Framework</a:t>
            </a:r>
            <a:r>
              <a:rPr lang="en-US" sz="1050" dirty="0">
                <a:solidFill>
                  <a:srgbClr val="E0D6D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Replace paper with a single, searchable repository that houses patient histories, images, and clinical notes.</a:t>
            </a:r>
          </a:p>
          <a:p>
            <a:pPr marL="171450" indent="-171450" algn="l">
              <a:lnSpc>
                <a:spcPct val="130000"/>
              </a:lnSpc>
              <a:buFont typeface="Wingdings" panose="05000000000000000000" pitchFamily="2" charset="2"/>
              <a:buChar char="v"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Single Source of Truth</a:t>
            </a:r>
            <a:r>
              <a:rPr lang="en-US" sz="1050" dirty="0">
                <a:solidFill>
                  <a:srgbClr val="E0D6D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Consolidate records so clinicians have consistent, up-to-date patient data at point of care.</a:t>
            </a:r>
          </a:p>
          <a:p>
            <a:pPr marL="171450" indent="-171450" algn="l">
              <a:lnSpc>
                <a:spcPct val="130000"/>
              </a:lnSpc>
              <a:buFont typeface="Wingdings" panose="05000000000000000000" pitchFamily="2" charset="2"/>
              <a:buChar char="v"/>
            </a:pP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>
              <a:lnSpc>
                <a:spcPct val="130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Arial" panose="020B0604020202020204" pitchFamily="34" charset="0"/>
                <a:ea typeface="Inter Bold" pitchFamily="34" charset="-122"/>
                <a:cs typeface="Arial" panose="020B0604020202020204" pitchFamily="34" charset="0"/>
              </a:rPr>
              <a:t>Clinical Accuracy &amp; Security</a:t>
            </a:r>
            <a:r>
              <a:rPr lang="en-US" sz="1050" dirty="0">
                <a:solidFill>
                  <a:srgbClr val="E0D6DE"/>
                </a:solidFill>
                <a:latin typeface="Arial" panose="020B0604020202020204" pitchFamily="34" charset="0"/>
                <a:ea typeface="Inter" pitchFamily="34" charset="-122"/>
                <a:cs typeface="Arial" panose="020B0604020202020204" pitchFamily="34" charset="0"/>
              </a:rPr>
              <a:t> — Reduce medication and diagnostic errors while enforcing HIPAA-compliant controls and audit trails.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142" y="1262676"/>
            <a:ext cx="2196554" cy="988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38519" y="1286350"/>
            <a:ext cx="384394" cy="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Capture</a:t>
            </a:r>
            <a:endParaRPr lang="en-US" sz="350" dirty="0"/>
          </a:p>
        </p:txBody>
      </p:sp>
      <p:sp>
        <p:nvSpPr>
          <p:cNvPr id="7" name="Text 3"/>
          <p:cNvSpPr/>
          <p:nvPr/>
        </p:nvSpPr>
        <p:spPr>
          <a:xfrm>
            <a:off x="5438519" y="1372396"/>
            <a:ext cx="384394" cy="92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patient intake and records</a:t>
            </a:r>
            <a:endParaRPr lang="en-US" sz="250" dirty="0"/>
          </a:p>
        </p:txBody>
      </p:sp>
      <p:sp>
        <p:nvSpPr>
          <p:cNvPr id="8" name="Text 4"/>
          <p:cNvSpPr/>
          <p:nvPr/>
        </p:nvSpPr>
        <p:spPr>
          <a:xfrm>
            <a:off x="5923166" y="2060616"/>
            <a:ext cx="386506" cy="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Integrate</a:t>
            </a:r>
            <a:endParaRPr lang="en-US" sz="350" dirty="0"/>
          </a:p>
        </p:txBody>
      </p:sp>
      <p:sp>
        <p:nvSpPr>
          <p:cNvPr id="9" name="Text 5"/>
          <p:cNvSpPr/>
          <p:nvPr/>
        </p:nvSpPr>
        <p:spPr>
          <a:xfrm>
            <a:off x="5923166" y="2143415"/>
            <a:ext cx="386506" cy="139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EHR, lab, and pharmacy systems</a:t>
            </a:r>
            <a:endParaRPr lang="en-US" sz="250" dirty="0"/>
          </a:p>
        </p:txBody>
      </p:sp>
      <p:sp>
        <p:nvSpPr>
          <p:cNvPr id="10" name="Text 6"/>
          <p:cNvSpPr/>
          <p:nvPr/>
        </p:nvSpPr>
        <p:spPr>
          <a:xfrm>
            <a:off x="6384632" y="1310024"/>
            <a:ext cx="384394" cy="62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Enable</a:t>
            </a:r>
            <a:endParaRPr lang="en-US" sz="350" dirty="0"/>
          </a:p>
        </p:txBody>
      </p:sp>
      <p:sp>
        <p:nvSpPr>
          <p:cNvPr id="11" name="Text 7"/>
          <p:cNvSpPr/>
          <p:nvPr/>
        </p:nvSpPr>
        <p:spPr>
          <a:xfrm>
            <a:off x="6384632" y="1424899"/>
            <a:ext cx="384394" cy="92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2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alerts, and clinical insights</a:t>
            </a:r>
            <a:endParaRPr lang="en-US" sz="250" dirty="0"/>
          </a:p>
        </p:txBody>
      </p:sp>
      <p:sp>
        <p:nvSpPr>
          <p:cNvPr id="12" name="Text 8"/>
          <p:cNvSpPr/>
          <p:nvPr/>
        </p:nvSpPr>
        <p:spPr>
          <a:xfrm>
            <a:off x="6397258" y="2554043"/>
            <a:ext cx="219655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DA321C3-27DF-888C-89B3-97007A185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9838" y="4641717"/>
            <a:ext cx="313416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1591"/>
            <a:ext cx="8151763" cy="372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Essential Pillars: Patient &amp; Doctor Modules</a:t>
            </a:r>
            <a:endParaRPr lang="en-US" sz="2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17253"/>
            <a:ext cx="419100" cy="5238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2398" y="1717253"/>
            <a:ext cx="1308720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Registration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092398" y="2267396"/>
            <a:ext cx="130872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admission, discharge, and follow-up workflows with automatic record creation and consent tracking.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717253"/>
            <a:ext cx="419100" cy="523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74578" y="1717253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Appointment Booking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3174578" y="2267396"/>
            <a:ext cx="13087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scheduling, automated reminders, and capacity management to reduce lobby congestion and no-shows.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717253"/>
            <a:ext cx="419100" cy="523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56833" y="1717253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Doctor Management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256833" y="2267396"/>
            <a:ext cx="1308795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profiles, duty rosters, digital prescription notes, and decision support tools to speed documentation.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717253"/>
            <a:ext cx="419100" cy="523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9087" y="1717253"/>
            <a:ext cx="1308795" cy="465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Communication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7339087" y="2267396"/>
            <a:ext cx="13087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messaging, patient queue management, and escalation alerts for timely coordination across teams.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C048065-BFFA-0208-8DB1-38AB192F20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9838" y="4657657"/>
            <a:ext cx="313416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229"/>
            <a:ext cx="8151763" cy="3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Engines: Pharmacy &amp; Laboratory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864668"/>
            <a:ext cx="3483992" cy="19742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319885" y="1140916"/>
            <a:ext cx="2099816" cy="1752526"/>
          </a:xfrm>
          <a:prstGeom prst="roundRect">
            <a:avLst>
              <a:gd name="adj" fmla="val 3291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476229" y="1297260"/>
            <a:ext cx="1787128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Inventory Control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476229" y="1655490"/>
            <a:ext cx="1787128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stock tracking, reorder thresholds, and expiry management to avoid shortages and wastage.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52679" y="1140916"/>
            <a:ext cx="2099890" cy="1752526"/>
          </a:xfrm>
          <a:prstGeom prst="roundRect">
            <a:avLst>
              <a:gd name="adj" fmla="val 3291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09023" y="1297260"/>
            <a:ext cx="1787203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Billing Integration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709023" y="1655490"/>
            <a:ext cx="178720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cost calculation and itemized invoices that tie directly to services and consumables used.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19885" y="3026420"/>
            <a:ext cx="2099816" cy="1536204"/>
          </a:xfrm>
          <a:prstGeom prst="roundRect">
            <a:avLst>
              <a:gd name="adj" fmla="val 3755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6229" y="3182764"/>
            <a:ext cx="1787128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Lab Management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476229" y="3540993"/>
            <a:ext cx="1787128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Electronic transmission of test orders and results directly into patient records for faster diagnosis.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52679" y="3026420"/>
            <a:ext cx="2099890" cy="1536204"/>
          </a:xfrm>
          <a:prstGeom prst="roundRect">
            <a:avLst>
              <a:gd name="adj" fmla="val 3755"/>
            </a:avLst>
          </a:prstGeom>
          <a:solidFill>
            <a:srgbClr val="0C0524">
              <a:alpha val="95000"/>
            </a:srgbClr>
          </a:solidFill>
          <a:ln w="19050">
            <a:solidFill>
              <a:srgbClr val="483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9023" y="3182764"/>
            <a:ext cx="1787203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Reporting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709023" y="3540993"/>
            <a:ext cx="178720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for revenue analytics, inventory KPIs, and department-level performance monitoring.</a:t>
            </a:r>
            <a:endParaRPr lang="en-US" sz="10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7DF955E-B70D-25A0-0B02-473ED4B61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838" y="4657657"/>
            <a:ext cx="313416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09575"/>
            <a:ext cx="4722763" cy="366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Technological Architecture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3606800" y="1105494"/>
            <a:ext cx="5468313" cy="302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2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Networked Environment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Central database servers accessible via secure hospital intranet with redundancy and backups.</a:t>
            </a:r>
          </a:p>
          <a:p>
            <a:pPr marL="171450" indent="-171450" algn="l">
              <a:lnSpc>
                <a:spcPct val="132000"/>
              </a:lnSpc>
              <a:buFont typeface="Wingdings" panose="05000000000000000000" pitchFamily="2" charset="2"/>
              <a:buChar char="v"/>
            </a:pPr>
            <a:endParaRPr lang="en-US" sz="1050" dirty="0"/>
          </a:p>
          <a:p>
            <a:pPr marL="171450" indent="-171450" algn="l">
              <a:lnSpc>
                <a:spcPct val="132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Accessibility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Role-based access for clinicians, nurses, and administrators with mobile and desktop clients.</a:t>
            </a:r>
          </a:p>
          <a:p>
            <a:pPr marL="171450" indent="-171450" algn="l">
              <a:lnSpc>
                <a:spcPct val="132000"/>
              </a:lnSpc>
              <a:buFont typeface="Wingdings" panose="05000000000000000000" pitchFamily="2" charset="2"/>
              <a:buChar char="v"/>
            </a:pPr>
            <a:endParaRPr lang="en-US" sz="1050" dirty="0">
              <a:solidFill>
                <a:srgbClr val="E0D6DE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171450" indent="-171450">
              <a:lnSpc>
                <a:spcPct val="132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Modular microservices and cloud-ready components that expand as the facility grows.</a:t>
            </a:r>
          </a:p>
          <a:p>
            <a:pPr marL="171450" indent="-171450">
              <a:lnSpc>
                <a:spcPct val="132000"/>
              </a:lnSpc>
              <a:buFont typeface="Wingdings" panose="05000000000000000000" pitchFamily="2" charset="2"/>
              <a:buChar char="v"/>
            </a:pPr>
            <a:endParaRPr lang="en-US" sz="1050" dirty="0"/>
          </a:p>
          <a:p>
            <a:pPr marL="171450" indent="-171450">
              <a:lnSpc>
                <a:spcPct val="132000"/>
              </a:lnSpc>
              <a:buFont typeface="Wingdings" panose="05000000000000000000" pitchFamily="2" charset="2"/>
              <a:buChar char="v"/>
            </a:pPr>
            <a:r>
              <a:rPr lang="en-US" sz="1050" b="1" dirty="0">
                <a:solidFill>
                  <a:srgbClr val="E0D6D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Integration</a:t>
            </a:r>
            <a:r>
              <a:rPr lang="en-US" sz="105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APIs for corporate registration systems, billing gateways, imaging archives (PACS), and third-party devices.</a:t>
            </a:r>
            <a:endParaRPr lang="en-US" sz="1050" dirty="0"/>
          </a:p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914927" y="3313658"/>
            <a:ext cx="1598191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22A0DB5-FB9F-7467-7FEB-059A8FD7A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951" y="4657657"/>
            <a:ext cx="3134162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974"/>
            <a:ext cx="4722763" cy="302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FF8AA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Impact: Better Outcomes, Lower Costs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3925119" y="874663"/>
            <a:ext cx="14288" cy="3836863"/>
          </a:xfrm>
          <a:prstGeom prst="roundRect">
            <a:avLst>
              <a:gd name="adj" fmla="val 338593"/>
            </a:avLst>
          </a:prstGeom>
          <a:solidFill>
            <a:srgbClr val="48367C"/>
          </a:solidFill>
          <a:ln/>
        </p:spPr>
      </p:sp>
      <p:sp>
        <p:nvSpPr>
          <p:cNvPr id="5" name="Shape 2"/>
          <p:cNvSpPr/>
          <p:nvPr/>
        </p:nvSpPr>
        <p:spPr>
          <a:xfrm>
            <a:off x="3939406" y="874663"/>
            <a:ext cx="4722763" cy="818852"/>
          </a:xfrm>
          <a:prstGeom prst="rect">
            <a:avLst/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4525" y="994544"/>
            <a:ext cx="448776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Efficiency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054525" y="1239664"/>
            <a:ext cx="4487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reduces administrative paperwork dramatically, freeing staff to focus on care.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39406" y="1880667"/>
            <a:ext cx="4722763" cy="818852"/>
          </a:xfrm>
          <a:prstGeom prst="rect">
            <a:avLst/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54525" y="2000548"/>
            <a:ext cx="448776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Improved Care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54525" y="2245668"/>
            <a:ext cx="4487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access to accurate history accelerates diagnosis and reduces adverse events.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39406" y="2886670"/>
            <a:ext cx="4722763" cy="818852"/>
          </a:xfrm>
          <a:prstGeom prst="rect">
            <a:avLst/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4525" y="3006551"/>
            <a:ext cx="448776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Financial Health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054525" y="3251671"/>
            <a:ext cx="4487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Streamlined billing and lower resource waste increase revenue capture and cost control.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39406" y="3892674"/>
            <a:ext cx="4722763" cy="818852"/>
          </a:xfrm>
          <a:prstGeom prst="rect">
            <a:avLst/>
          </a:prstGeom>
          <a:solidFill>
            <a:srgbClr val="2F1D63"/>
          </a:solidFill>
          <a:ln w="4763">
            <a:solidFill>
              <a:srgbClr val="48367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54525" y="4012555"/>
            <a:ext cx="4487763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D6DE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Satisfaction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054525" y="4257675"/>
            <a:ext cx="4487763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0D6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Shorter wait times, transparent bills, and better communication improve patient experience and trust.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D6DE896-A731-3A8E-38F2-26350FAFC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833" y="4831407"/>
            <a:ext cx="3134162" cy="2429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496C8D-3F8F-D688-124B-84915DC8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86" y="4791026"/>
            <a:ext cx="2429214" cy="3524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70028C-8AF7-6B69-8E99-9B960F5F1BFA}"/>
              </a:ext>
            </a:extLst>
          </p:cNvPr>
          <p:cNvSpPr txBox="1"/>
          <p:nvPr/>
        </p:nvSpPr>
        <p:spPr>
          <a:xfrm>
            <a:off x="336550" y="1258708"/>
            <a:ext cx="8642350" cy="177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400" b="1" dirty="0">
                <a:solidFill>
                  <a:schemeClr val="accent2"/>
                </a:solidFill>
                <a:latin typeface="Montserrat ExtraBold" pitchFamily="2" charset="0"/>
                <a:ea typeface="Petrona Bold" pitchFamily="34" charset="-122"/>
                <a:cs typeface="Petrona Bold" pitchFamily="34" charset="-120"/>
              </a:rPr>
              <a:t>Hospital Management System </a:t>
            </a:r>
            <a:endParaRPr lang="en-US" sz="5400" dirty="0">
              <a:solidFill>
                <a:schemeClr val="accent2"/>
              </a:solidFill>
              <a:latin typeface="Montserrat ExtraBold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67E8A-D67F-71B3-2F71-618556D14C39}"/>
              </a:ext>
            </a:extLst>
          </p:cNvPr>
          <p:cNvSpPr txBox="1"/>
          <p:nvPr/>
        </p:nvSpPr>
        <p:spPr>
          <a:xfrm>
            <a:off x="3898900" y="3130550"/>
            <a:ext cx="201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307984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8C85E4-C03D-00E4-930A-3A788BF5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9838" y="4657657"/>
            <a:ext cx="3134162" cy="485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B75C3F-B76D-6F3E-BD54-EED8FA438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62000"/>
            <a:ext cx="9144000" cy="4381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C395B5-E299-E7CC-AAEF-D8E4687B6705}"/>
              </a:ext>
            </a:extLst>
          </p:cNvPr>
          <p:cNvSpPr txBox="1"/>
          <p:nvPr/>
        </p:nvSpPr>
        <p:spPr>
          <a:xfrm>
            <a:off x="2882900" y="177225"/>
            <a:ext cx="318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solidFill>
                  <a:srgbClr val="FFFF00"/>
                </a:solidFill>
                <a:latin typeface="Arial Black" panose="020B0A04020102020204" pitchFamily="34" charset="0"/>
              </a:rPr>
              <a:t>DASHBOARD </a:t>
            </a:r>
          </a:p>
        </p:txBody>
      </p:sp>
    </p:spTree>
    <p:extLst>
      <p:ext uri="{BB962C8B-B14F-4D97-AF65-F5344CB8AC3E}">
        <p14:creationId xmlns:p14="http://schemas.microsoft.com/office/powerpoint/2010/main" val="884731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79C3B-ABB2-FDB8-3E3B-278D3FCCE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4657725"/>
            <a:ext cx="313372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EA991-8EB9-DEBD-16A6-ED458ED08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6100"/>
            <a:ext cx="9144000" cy="459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6C7D50-A6A6-B612-21DA-3A4F1E9EAA8E}"/>
              </a:ext>
            </a:extLst>
          </p:cNvPr>
          <p:cNvSpPr txBox="1"/>
          <p:nvPr/>
        </p:nvSpPr>
        <p:spPr>
          <a:xfrm>
            <a:off x="2372360" y="1767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FF00"/>
                </a:solidFill>
                <a:latin typeface="Arial Black" panose="020B0A04020102020204" pitchFamily="34" charset="0"/>
              </a:rPr>
              <a:t>Example Diseases ‘ ASTHMA’</a:t>
            </a:r>
            <a:endParaRPr lang="en-IN" sz="1800" b="1" dirty="0">
              <a:solidFill>
                <a:srgbClr val="FFFF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678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32C1E9-8558-59D2-2716-4C9CB0D6D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4657725"/>
            <a:ext cx="3133725" cy="485775"/>
          </a:xfrm>
          <a:prstGeom prst="rect">
            <a:avLst/>
          </a:prstGeom>
        </p:spPr>
      </p:pic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0D895D9C-9FD7-CD16-5DE6-54E152BF3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3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0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AED094-3655-69D8-6865-134D5BFD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4237" y="4657725"/>
            <a:ext cx="3133725" cy="485775"/>
          </a:xfrm>
          <a:prstGeom prst="rect">
            <a:avLst/>
          </a:prstGeom>
        </p:spPr>
      </p:pic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714CF9C0-4B59-2B2E-533E-EA4B23F58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185" y="0"/>
            <a:ext cx="915518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051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496</Words>
  <Application>Microsoft Office PowerPoint</Application>
  <PresentationFormat>On-screen Show (16:9)</PresentationFormat>
  <Paragraphs>71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Petrona Bold</vt:lpstr>
      <vt:lpstr>Arial Black</vt:lpstr>
      <vt:lpstr>Montserrat ExtraBold</vt:lpstr>
      <vt:lpstr>Inter Bold</vt:lpstr>
      <vt:lpstr>Arial</vt:lpstr>
      <vt:lpstr>Inter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Venkateshan Gounder</cp:lastModifiedBy>
  <cp:revision>2</cp:revision>
  <dcterms:created xsi:type="dcterms:W3CDTF">2026-07-08T09:51:47Z</dcterms:created>
  <dcterms:modified xsi:type="dcterms:W3CDTF">2026-07-10T13:25:27Z</dcterms:modified>
</cp:coreProperties>
</file>